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94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E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ClimaLab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Mide lo que importa</a:t>
            </a:r>
            <a:br/>
            <a:r>
              <a:t>en tu organización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0F0D8"/>
                </a:solidFill>
                <a:latin typeface="Calibri"/>
              </a:defRPr>
            </a:pPr>
            <a:r>
              <a:t>Plataforma de diagnóstico de clima organizacional que transforma</a:t>
            </a:r>
            <a:br/>
            <a:r>
              <a:t>datos en decisiones accionables sobre tu gente.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E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291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D8B0"/>
                </a:solidFill>
                <a:latin typeface="Calibri"/>
              </a:defRPr>
            </a:pPr>
            <a:r>
              <a:t>Un producto de Rizo.ma Consulting  ·  Panamá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29107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A0D8B0"/>
                </a:solidFill>
                <a:latin typeface="Calibri"/>
              </a:defRPr>
            </a:pPr>
            <a:r>
              <a:t>climalab.vercel.app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8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65760"/>
            <a:ext cx="502920" cy="502920"/>
          </a:xfrm>
          <a:prstGeom prst="ellipse">
            <a:avLst/>
          </a:prstGeom>
          <a:solidFill>
            <a:srgbClr val="28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4747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51414"/>
                </a:solidFill>
                <a:latin typeface="Calibri"/>
              </a:defRPr>
            </a:pPr>
            <a:r>
              <a:t>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0467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Las organizaciones toman decisiones sobre su gente basadas en intuición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51414"/>
                </a:solidFill>
                <a:latin typeface="Calibri"/>
              </a:defRPr>
              <a:buFont typeface="Arial"/>
              <a:buChar char="●"/>
            </a:pPr>
            <a:r>
              <a:t>Las encuestas genéricas producen datos sin contexto ni rigor científico</a:t>
            </a:r>
          </a:p>
          <a:p>
            <a:pPr>
              <a:spcAft>
                <a:spcPts val="1200"/>
              </a:spcAft>
              <a:defRPr sz="1600">
                <a:solidFill>
                  <a:srgbClr val="151414"/>
                </a:solidFill>
                <a:latin typeface="Calibri"/>
              </a:defRPr>
              <a:buFont typeface="Arial"/>
              <a:buChar char="●"/>
            </a:pPr>
            <a:r>
              <a:t>Los resultados llegan tarde, sin segmentación y sin recomendaciones claras</a:t>
            </a:r>
          </a:p>
          <a:p>
            <a:pPr>
              <a:spcAft>
                <a:spcPts val="1200"/>
              </a:spcAft>
              <a:defRPr sz="1600">
                <a:solidFill>
                  <a:srgbClr val="151414"/>
                </a:solidFill>
                <a:latin typeface="Calibri"/>
              </a:defRPr>
              <a:buFont typeface="Arial"/>
              <a:buChar char="●"/>
            </a:pPr>
            <a:r>
              <a:t>Contratar consultoría tradicional es costoso y lento para PYMEs</a:t>
            </a:r>
          </a:p>
          <a:p>
            <a:pPr>
              <a:spcAft>
                <a:spcPts val="1200"/>
              </a:spcAft>
              <a:defRPr sz="1600">
                <a:solidFill>
                  <a:srgbClr val="151414"/>
                </a:solidFill>
                <a:latin typeface="Calibri"/>
              </a:defRPr>
              <a:buFont typeface="Arial"/>
              <a:buChar char="●"/>
            </a:pPr>
            <a:r>
              <a:t>Falta de anonimato real reduce la participación y honestidad</a:t>
            </a:r>
          </a:p>
          <a:p>
            <a:pPr>
              <a:spcAft>
                <a:spcPts val="1200"/>
              </a:spcAft>
              <a:defRPr sz="1600">
                <a:solidFill>
                  <a:srgbClr val="151414"/>
                </a:solidFill>
                <a:latin typeface="Calibri"/>
              </a:defRPr>
              <a:buFont typeface="Arial"/>
              <a:buChar char="●"/>
            </a:pPr>
            <a:r>
              <a:t>Sin análisis avanzado, las intervenciones se hacen a ciegas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645920"/>
            <a:ext cx="3840480" cy="201168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182880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32421"/>
                </a:solidFill>
                <a:latin typeface="Calibri"/>
              </a:defRPr>
            </a:pPr>
            <a:r>
              <a:t>El resultado:</a:t>
            </a:r>
            <a:br/>
            <a:br/>
            <a:r>
              <a:t>Intervenciones a ciegas, rotación evitable y talento que se pierde.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698480" cy="109728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5212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89448"/>
                </a:solidFill>
                <a:latin typeface="Calibri"/>
              </a:defRPr>
            </a:pPr>
            <a:r>
              <a:t>ClimaLab resuelve esto: rigor de consultoría + velocidad de plataforma + IA integrada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8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65760"/>
            <a:ext cx="502920" cy="502920"/>
          </a:xfrm>
          <a:prstGeom prst="ellipse">
            <a:avLst/>
          </a:prstGeom>
          <a:solidFill>
            <a:srgbClr val="28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4747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51414"/>
                </a:solidFill>
                <a:latin typeface="Calibri"/>
              </a:defRPr>
            </a:pPr>
            <a:r>
              <a:t>La solución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0467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Rigor de consultoría, velocidad de plataforma, costo accesible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560320"/>
                <a:gridCol w="2743200"/>
                <a:gridCol w="3200400"/>
              </a:tblGrid>
              <a:tr h="5283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Criterio</a:t>
                      </a:r>
                    </a:p>
                  </a:txBody>
                  <a:tcPr anchor="ctr">
                    <a:solidFill>
                      <a:srgbClr val="227A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Encuestas genéricas</a:t>
                      </a:r>
                    </a:p>
                  </a:txBody>
                  <a:tcPr anchor="ctr">
                    <a:solidFill>
                      <a:srgbClr val="227A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Consultoría tradicional</a:t>
                      </a:r>
                    </a:p>
                  </a:txBody>
                  <a:tcPr anchor="ctr">
                    <a:solidFill>
                      <a:srgbClr val="227A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ClimaLab</a:t>
                      </a:r>
                    </a:p>
                  </a:txBody>
                  <a:tcPr anchor="ctr">
                    <a:solidFill>
                      <a:srgbClr val="227A3C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Fundamento científico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Bajo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Alto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Alto (22 dims validadas)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Velocidad de resultados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Media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Lenta (semanas)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Inmediata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Costo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Bajo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Alto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Accesible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Análisis estadístico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Descriptivo básico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Manual (consultor)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Automatizado (rwg, α, Pearson)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Inteligencia Artificial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Sí (triple backend)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Análisis de redes (ONA)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Raro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Sí (Leiden + NMI)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Marca blanca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Limitada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Variable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Completa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Contexto LATAM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Genérico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Depende del consultor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Nativo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8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65760"/>
            <a:ext cx="502920" cy="502920"/>
          </a:xfrm>
          <a:prstGeom prst="ellipse">
            <a:avLst/>
          </a:prstGeom>
          <a:solidFill>
            <a:srgbClr val="28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4747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51414"/>
                </a:solidFill>
                <a:latin typeface="Calibri"/>
              </a:defRPr>
            </a:pPr>
            <a:r>
              <a:t>Propuesta de valor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0467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Mide · Entiende · Actúa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83280" cy="41148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383280" cy="73152"/>
          </a:xfrm>
          <a:prstGeom prst="rect">
            <a:avLst/>
          </a:prstGeom>
          <a:solidFill>
            <a:srgbClr val="28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289448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60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51414"/>
                </a:solidFill>
                <a:latin typeface="Calibri"/>
              </a:defRPr>
            </a:pPr>
            <a:r>
              <a:t>Mide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0896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6B6B"/>
                </a:solidFill>
                <a:latin typeface="Calibri"/>
              </a:defRPr>
            </a:pPr>
            <a:r>
              <a:t>Diagnóstico de 22 dimensiones científicamente validadas en menos de 10 minutos por persona.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9" y="1645920"/>
            <a:ext cx="3383280" cy="41148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1645920"/>
            <a:ext cx="3383280" cy="73152"/>
          </a:xfrm>
          <a:prstGeom prst="rect">
            <a:avLst/>
          </a:prstGeom>
          <a:solidFill>
            <a:srgbClr val="1FA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79" y="192024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1FACC0"/>
                </a:solidFill>
                <a:latin typeface="Calibri"/>
              </a:defRPr>
            </a:pPr>
            <a:r>
              <a:t>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2560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51414"/>
                </a:solidFill>
                <a:latin typeface="Calibri"/>
              </a:defRPr>
            </a:pPr>
            <a:r>
              <a:t>Entiende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310896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6B6B"/>
                </a:solidFill>
                <a:latin typeface="Calibri"/>
              </a:defRPr>
            </a:pPr>
            <a:r>
              <a:t>Visualiza resultados por área, antigüedad, género y perfiles de compromiso de forma inmediata.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645920"/>
            <a:ext cx="3383280" cy="41148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645920"/>
            <a:ext cx="3383280" cy="73152"/>
          </a:xfrm>
          <a:prstGeom prst="rect">
            <a:avLst/>
          </a:prstGeom>
          <a:solidFill>
            <a:srgbClr val="FF8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192024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8044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560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51414"/>
                </a:solidFill>
                <a:latin typeface="Calibri"/>
              </a:defRPr>
            </a:pPr>
            <a:r>
              <a:t>Actúa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10896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6B6B"/>
                </a:solidFill>
                <a:latin typeface="Calibri"/>
              </a:defRPr>
            </a:pPr>
            <a:r>
              <a:t>Recibe recomendaciones basadas en evidencia e impulsadas por IA para intervenir donde más importa.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8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65760"/>
            <a:ext cx="502920" cy="502920"/>
          </a:xfrm>
          <a:prstGeom prst="ellipse">
            <a:avLst/>
          </a:prstGeom>
          <a:solidFill>
            <a:srgbClr val="28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4747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51414"/>
                </a:solidFill>
                <a:latin typeface="Calibri"/>
              </a:defRPr>
            </a:pPr>
            <a:r>
              <a:t>Instrumento científico — ClimaLab Core v4.0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0467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22 dimensiones en 4 categorías + Engagement transversal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3035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73152" cy="2103120"/>
          </a:xfrm>
          <a:prstGeom prst="rect">
            <a:avLst/>
          </a:prstGeom>
          <a:solidFill>
            <a:srgbClr val="28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9448"/>
                </a:solidFill>
                <a:latin typeface="Calibri"/>
              </a:defRPr>
            </a:pPr>
            <a:r>
              <a:t>Bienestar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5087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B6B6B"/>
                </a:solidFill>
                <a:latin typeface="Calibri"/>
              </a:defRPr>
            </a:pPr>
            <a:r>
              <a:t>6 dimensiones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6596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51414"/>
                </a:solidFill>
                <a:latin typeface="Calibri"/>
              </a:defRPr>
            </a:pPr>
            <a:r>
              <a:t>Orgullo Institucional · Propósito del Trabajo · Seguridad Física y Psicológica · Balance Vida-Trabajo · Cuidado Mutuo · Demandas Laborales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371600"/>
            <a:ext cx="53035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371600"/>
            <a:ext cx="73152" cy="2103120"/>
          </a:xfrm>
          <a:prstGeom prst="rect">
            <a:avLst/>
          </a:prstGeom>
          <a:solidFill>
            <a:srgbClr val="1FA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508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ACC0"/>
                </a:solidFill>
                <a:latin typeface="Calibri"/>
              </a:defRPr>
            </a:pPr>
            <a:r>
              <a:t>Dirección y Supervisión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15087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B6B6B"/>
                </a:solidFill>
                <a:latin typeface="Calibri"/>
              </a:defRPr>
            </a:pPr>
            <a:r>
              <a:t>5 dimensiones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196596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51414"/>
                </a:solidFill>
                <a:latin typeface="Calibri"/>
              </a:defRPr>
            </a:pPr>
            <a:r>
              <a:t>Liderazgo Efectivo · Autonomía · Comunicación Interna · Confianza Institucional · Claridad de Rol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749039"/>
            <a:ext cx="53035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749039"/>
            <a:ext cx="73152" cy="2103120"/>
          </a:xfrm>
          <a:prstGeom prst="rect">
            <a:avLst/>
          </a:prstGeom>
          <a:solidFill>
            <a:srgbClr val="FF8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88619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044"/>
                </a:solidFill>
                <a:latin typeface="Calibri"/>
              </a:defRPr>
            </a:pPr>
            <a:r>
              <a:t>Compensación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88619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B6B6B"/>
                </a:solidFill>
                <a:latin typeface="Calibri"/>
              </a:defRPr>
            </a:pPr>
            <a:r>
              <a:t>5 dimensiones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343399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51414"/>
                </a:solidFill>
                <a:latin typeface="Calibri"/>
              </a:defRPr>
            </a:pPr>
            <a:r>
              <a:t>Compensación · Reconocimiento · Beneficios · Equidad en Ascensos · No Discriminación e Inclusión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749039"/>
            <a:ext cx="53035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3749039"/>
            <a:ext cx="73152" cy="2103120"/>
          </a:xfrm>
          <a:prstGeom prst="rect">
            <a:avLst/>
          </a:prstGeom>
          <a:solidFill>
            <a:srgbClr val="2F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388619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F5DFF"/>
                </a:solidFill>
                <a:latin typeface="Calibri"/>
              </a:defRPr>
            </a:pPr>
            <a:r>
              <a:t>Cultura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388619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B6B6B"/>
                </a:solidFill>
                <a:latin typeface="Calibri"/>
              </a:defRPr>
            </a:pPr>
            <a:r>
              <a:t>5 dimensiones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343399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51414"/>
                </a:solidFill>
                <a:latin typeface="Calibri"/>
              </a:defRPr>
            </a:pPr>
            <a:r>
              <a:t>Cohesión de Equipo · Innovación y Cambio · Resultados y Logros · Desarrollo Profesional · Aprendizaje Organizacional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solidFill>
            <a:srgbClr val="28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61447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Variable transversal: Engagement y Compromiso (UWES-9) — 5 ítems como variable dependiente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8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65760"/>
            <a:ext cx="502920" cy="502920"/>
          </a:xfrm>
          <a:prstGeom prst="ellipse">
            <a:avLst/>
          </a:prstGeom>
          <a:solidFill>
            <a:srgbClr val="28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4747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51414"/>
                </a:solidFill>
                <a:latin typeface="Calibri"/>
              </a:defRPr>
            </a:pPr>
            <a:r>
              <a:t>Modalidades de medición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0467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Instrumento flexible según la necesidad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6984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3840480"/>
                <a:gridCol w="18288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Modalidad</a:t>
                      </a:r>
                    </a:p>
                  </a:txBody>
                  <a:tcPr anchor="ctr">
                    <a:solidFill>
                      <a:srgbClr val="227A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Ítems</a:t>
                      </a:r>
                    </a:p>
                  </a:txBody>
                  <a:tcPr anchor="ctr">
                    <a:solidFill>
                      <a:srgbClr val="227A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Uso ideal</a:t>
                      </a:r>
                    </a:p>
                  </a:txBody>
                  <a:tcPr anchor="ctr">
                    <a:solidFill>
                      <a:srgbClr val="227A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Duración</a:t>
                      </a:r>
                    </a:p>
                  </a:txBody>
                  <a:tcPr anchor="ctr">
                    <a:solidFill>
                      <a:srgbClr val="227A3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Core v4.0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109 (107 + 2 checks)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Diagnóstico integral anual o semestral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~10 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Pulso v4.0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22 ítems ancla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Pulsos rápidos trimestrales o mensuales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~3 min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51414"/>
                </a:solidFill>
                <a:latin typeface="Calibri"/>
              </a:defRPr>
            </a:pPr>
            <a:r>
              <a:t>Módulos opcionales (se agregan al instrumento base)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3931920"/>
          <a:ext cx="106984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371600"/>
                <a:gridCol w="612648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Módulo</a:t>
                      </a:r>
                    </a:p>
                  </a:txBody>
                  <a:tcPr anchor="ctr">
                    <a:solidFill>
                      <a:srgbClr val="227A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Ítems</a:t>
                      </a:r>
                    </a:p>
                  </a:txBody>
                  <a:tcPr anchor="ctr">
                    <a:solidFill>
                      <a:srgbClr val="227A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Aplicación</a:t>
                      </a:r>
                    </a:p>
                  </a:txBody>
                  <a:tcPr anchor="ctr">
                    <a:solidFill>
                      <a:srgbClr val="227A3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Gestión del Cambio (CAM)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Procesos de transformación organizacional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Orientación al Cliente (CLI)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Fortalecimiento de cultura de servicio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Preparación Digital (DIG)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Evaluación de madurez tecnológica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Cada dimensión respaldada por teoría peer-reviewed: Mael &amp; Ashforth, Deci &amp; Ryan, Eisenberger, Edmondson, Locke &amp; Latham, etc.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8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65760"/>
            <a:ext cx="502920" cy="502920"/>
          </a:xfrm>
          <a:prstGeom prst="ellipse">
            <a:avLst/>
          </a:prstGeom>
          <a:solidFill>
            <a:srgbClr val="28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4747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51414"/>
                </a:solidFill>
                <a:latin typeface="Calibri"/>
              </a:defRPr>
            </a:pPr>
            <a:r>
              <a:t>Experiencia de encuesta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0467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Diseñada para maximizar participación y calidad de datos</a:t>
            </a:r>
          </a:p>
        </p:txBody>
      </p:sp>
      <p:sp>
        <p:nvSpPr>
          <p:cNvPr id="6" name="Oval 5"/>
          <p:cNvSpPr/>
          <p:nvPr/>
        </p:nvSpPr>
        <p:spPr>
          <a:xfrm>
            <a:off x="1097280" y="1554480"/>
            <a:ext cx="548640" cy="548640"/>
          </a:xfrm>
          <a:prstGeom prst="ellipse">
            <a:avLst/>
          </a:prstGeom>
          <a:solidFill>
            <a:srgbClr val="28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600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5E5E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86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51414"/>
                </a:solidFill>
                <a:latin typeface="Calibri"/>
              </a:defRPr>
            </a:pPr>
            <a:r>
              <a:t>Bienvenida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517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6B"/>
                </a:solidFill>
                <a:latin typeface="Calibri"/>
              </a:defRPr>
            </a:pPr>
            <a:r>
              <a:t>Personalizada con logo</a:t>
            </a:r>
            <a:br/>
            <a:r>
              <a:t>y colores de la org</a:t>
            </a:r>
          </a:p>
        </p:txBody>
      </p:sp>
      <p:sp>
        <p:nvSpPr>
          <p:cNvPr id="10" name="Oval 9"/>
          <p:cNvSpPr/>
          <p:nvPr/>
        </p:nvSpPr>
        <p:spPr>
          <a:xfrm>
            <a:off x="3383280" y="1554480"/>
            <a:ext cx="548640" cy="548640"/>
          </a:xfrm>
          <a:prstGeom prst="ellipse">
            <a:avLst/>
          </a:prstGeom>
          <a:solidFill>
            <a:srgbClr val="28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600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5E5E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286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51414"/>
                </a:solidFill>
                <a:latin typeface="Calibri"/>
              </a:defRPr>
            </a:pPr>
            <a:r>
              <a:t>Demografía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6517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6B"/>
                </a:solidFill>
                <a:latin typeface="Calibri"/>
              </a:defRPr>
            </a:pPr>
            <a:r>
              <a:t>Departamento,</a:t>
            </a:r>
            <a:br/>
            <a:r>
              <a:t>antigüedad, género</a:t>
            </a:r>
          </a:p>
        </p:txBody>
      </p:sp>
      <p:sp>
        <p:nvSpPr>
          <p:cNvPr id="14" name="Oval 13"/>
          <p:cNvSpPr/>
          <p:nvPr/>
        </p:nvSpPr>
        <p:spPr>
          <a:xfrm>
            <a:off x="5669280" y="1554480"/>
            <a:ext cx="548640" cy="548640"/>
          </a:xfrm>
          <a:prstGeom prst="ellipse">
            <a:avLst/>
          </a:prstGeom>
          <a:solidFill>
            <a:srgbClr val="28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600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5E5E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2286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51414"/>
                </a:solidFill>
                <a:latin typeface="Calibri"/>
              </a:defRPr>
            </a:pPr>
            <a:r>
              <a:t>Dimensiones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26517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6B"/>
                </a:solidFill>
                <a:latin typeface="Calibri"/>
              </a:defRPr>
            </a:pPr>
            <a:r>
              <a:t>Ítems aleatorizados</a:t>
            </a:r>
            <a:br/>
            <a:r>
              <a:t>en escala Likert 1-5</a:t>
            </a:r>
          </a:p>
        </p:txBody>
      </p:sp>
      <p:sp>
        <p:nvSpPr>
          <p:cNvPr id="18" name="Oval 17"/>
          <p:cNvSpPr/>
          <p:nvPr/>
        </p:nvSpPr>
        <p:spPr>
          <a:xfrm>
            <a:off x="7955280" y="1554480"/>
            <a:ext cx="548640" cy="548640"/>
          </a:xfrm>
          <a:prstGeom prst="ellipse">
            <a:avLst/>
          </a:prstGeom>
          <a:solidFill>
            <a:srgbClr val="28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1600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5E5E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2286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51414"/>
                </a:solidFill>
                <a:latin typeface="Calibri"/>
              </a:defRPr>
            </a:pPr>
            <a:r>
              <a:t>Abiertas + eNPS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26517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6B"/>
                </a:solidFill>
                <a:latin typeface="Calibri"/>
              </a:defRPr>
            </a:pPr>
            <a:r>
              <a:t>Fortalezas, mejoras,</a:t>
            </a:r>
            <a:br/>
            <a:r>
              <a:t>comentarios + eNPS 0-10</a:t>
            </a:r>
          </a:p>
        </p:txBody>
      </p:sp>
      <p:sp>
        <p:nvSpPr>
          <p:cNvPr id="22" name="Oval 21"/>
          <p:cNvSpPr/>
          <p:nvPr/>
        </p:nvSpPr>
        <p:spPr>
          <a:xfrm>
            <a:off x="10241280" y="1554480"/>
            <a:ext cx="548640" cy="548640"/>
          </a:xfrm>
          <a:prstGeom prst="ellipse">
            <a:avLst/>
          </a:prstGeom>
          <a:solidFill>
            <a:srgbClr val="28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2286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51414"/>
                </a:solidFill>
                <a:latin typeface="Calibri"/>
              </a:defRPr>
            </a:pPr>
            <a:r>
              <a:t>Agradecimiento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60" y="26517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6B"/>
                </a:solidFill>
                <a:latin typeface="Calibri"/>
              </a:defRPr>
            </a:pPr>
            <a:r>
              <a:t>Mensaje personalizado</a:t>
            </a:r>
            <a:br/>
            <a:r>
              <a:t>con branding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51414"/>
                </a:solidFill>
                <a:latin typeface="Calibri"/>
              </a:defRPr>
            </a:pPr>
            <a:r>
              <a:t>Garantías de calidad y anonimato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29768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51414"/>
                </a:solidFill>
                <a:latin typeface="Calibri"/>
              </a:defRPr>
              <a:buFont typeface="Arial"/>
              <a:buChar char="●"/>
            </a:pPr>
            <a:r>
              <a:t>100% anónima — tokens únicos, sin email ni login requerido</a:t>
            </a:r>
          </a:p>
          <a:p>
            <a:pPr>
              <a:spcAft>
                <a:spcPts val="800"/>
              </a:spcAft>
              <a:defRPr sz="1400">
                <a:solidFill>
                  <a:srgbClr val="151414"/>
                </a:solidFill>
                <a:latin typeface="Calibri"/>
              </a:defRPr>
              <a:buFont typeface="Arial"/>
              <a:buChar char="●"/>
            </a:pPr>
            <a:r>
              <a:t>Respaldo automático en localStorage (recuperación ante cierre)</a:t>
            </a:r>
          </a:p>
          <a:p>
            <a:pPr>
              <a:spcAft>
                <a:spcPts val="800"/>
              </a:spcAft>
              <a:defRPr sz="1400">
                <a:solidFill>
                  <a:srgbClr val="151414"/>
                </a:solidFill>
                <a:latin typeface="Calibri"/>
              </a:defRPr>
              <a:buFont typeface="Arial"/>
              <a:buChar char="●"/>
            </a:pPr>
            <a:r>
              <a:t>Responsive — optimizada para móvil y escritorio</a:t>
            </a:r>
          </a:p>
          <a:p>
            <a:pPr>
              <a:spcAft>
                <a:spcPts val="800"/>
              </a:spcAft>
              <a:defRPr sz="1400">
                <a:solidFill>
                  <a:srgbClr val="151414"/>
                </a:solidFill>
                <a:latin typeface="Calibri"/>
              </a:defRPr>
              <a:buFont typeface="Arial"/>
              <a:buChar char="●"/>
            </a:pPr>
            <a:r>
              <a:t>Marca blanca completa (colores, logo, textos personalizados)</a:t>
            </a:r>
          </a:p>
          <a:p>
            <a:pPr>
              <a:spcAft>
                <a:spcPts val="800"/>
              </a:spcAft>
              <a:defRPr sz="1400">
                <a:solidFill>
                  <a:srgbClr val="151414"/>
                </a:solidFill>
                <a:latin typeface="Calibri"/>
              </a:defRPr>
              <a:buFont typeface="Arial"/>
              <a:buChar char="●"/>
            </a:pPr>
            <a:r>
              <a:t>Checks de atención para filtrar respuestas sin calidad</a:t>
            </a:r>
          </a:p>
          <a:p>
            <a:pPr>
              <a:spcAft>
                <a:spcPts val="800"/>
              </a:spcAft>
              <a:defRPr sz="1400">
                <a:solidFill>
                  <a:srgbClr val="151414"/>
                </a:solidFill>
                <a:latin typeface="Calibri"/>
              </a:defRPr>
              <a:buFont typeface="Arial"/>
              <a:buChar char="●"/>
            </a:pPr>
            <a:r>
              <a:t>Ítems invertidos para detectar sesgo de aquiescencia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8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65760"/>
            <a:ext cx="502920" cy="502920"/>
          </a:xfrm>
          <a:prstGeom prst="ellipse">
            <a:avLst/>
          </a:prstGeom>
          <a:solidFill>
            <a:srgbClr val="28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4747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51414"/>
                </a:solidFill>
                <a:latin typeface="Calibri"/>
              </a:defRPr>
            </a:pPr>
            <a:r>
              <a:t>Dashboard de resultados — 11 módulos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0467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Análisis completo en un solo lugar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6984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2011680"/>
                <a:gridCol w="8046720"/>
              </a:tblGrid>
              <a:tr h="4191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227A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Módulo</a:t>
                      </a:r>
                    </a:p>
                  </a:txBody>
                  <a:tcPr anchor="ctr">
                    <a:solidFill>
                      <a:srgbClr val="227A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Qué muestra</a:t>
                      </a:r>
                    </a:p>
                  </a:txBody>
                  <a:tcPr anchor="ctr">
                    <a:solidFill>
                      <a:srgbClr val="227A3C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Dashboard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KPIs, perfiles de engagement, eNPS, fortalezas y debilidades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Dimensiones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Puntajes detallados, rankings, heatmaps por segmento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Tendencias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Evolución histórica entre campañas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Segmentos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Análisis por departamento, antigüedad y género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Benchmarks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Comparativas internas entre áreas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Drivers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Correlaciones Pearson, impulsores del engagement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Alertas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Detección automática de crisis y grupos de riesgo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Comentarios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Análisis de sentimiento y extracción de temas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Red Perceptual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Análisis de redes organizacionales (ONA)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Ficha Técnica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Metodología, confiabilidad, limitaciones auto-detectadas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Exportar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DOCX editable, Excel, CSV, reporte 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8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65760"/>
            <a:ext cx="502920" cy="502920"/>
          </a:xfrm>
          <a:prstGeom prst="ellipse">
            <a:avLst/>
          </a:prstGeom>
          <a:solidFill>
            <a:srgbClr val="28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4747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51414"/>
                </a:solidFill>
                <a:latin typeface="Calibri"/>
              </a:defRPr>
            </a:pPr>
            <a:r>
              <a:t>Rigor estadístico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0467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Métodos psicométricos de nivel académico, completamente automatizados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212080"/>
                <a:gridCol w="2743200"/>
              </a:tblGrid>
              <a:tr h="47026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Método</a:t>
                      </a:r>
                    </a:p>
                  </a:txBody>
                  <a:tcPr anchor="ctr">
                    <a:solidFill>
                      <a:srgbClr val="227A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Propósito</a:t>
                      </a:r>
                    </a:p>
                  </a:txBody>
                  <a:tcPr anchor="ctr">
                    <a:solidFill>
                      <a:srgbClr val="227A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Umbral</a:t>
                      </a:r>
                    </a:p>
                  </a:txBody>
                  <a:tcPr anchor="ctr">
                    <a:solidFill>
                      <a:srgbClr val="227A3C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Cronbach's Alpha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Consistencia interna por dimensión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≥0.70 aceptable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rwg(j) (James et al.)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Acuerdo intra-grupo por dimensión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≥0.70 suficiente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Correlación de Pearson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Identificar drivers del engagement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n ≥ 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eNPS (0-10)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Lealtad y recomendación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Promotores ≥9, Detractores ≤6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Margen de error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Precisión muestral con corrección FPC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IC 95%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Favorabilidad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% de respuestas ≥4 en escala de 5 puntos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1414"/>
                </a:solidFill>
                <a:latin typeface="Calibri"/>
              </a:defRPr>
            </a:pPr>
            <a:r>
              <a:t>Perfiles de Engagement: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2377440" cy="731520"/>
          </a:xfrm>
          <a:prstGeom prst="rect">
            <a:avLst/>
          </a:prstGeom>
          <a:solidFill>
            <a:srgbClr val="28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4406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Embajadores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607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≥ 4.5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5394960"/>
            <a:ext cx="2377440" cy="731520"/>
          </a:xfrm>
          <a:prstGeom prst="rect">
            <a:avLst/>
          </a:prstGeom>
          <a:solidFill>
            <a:srgbClr val="1FA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54406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Comprometidos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57607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4.0 – 4.49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5394960"/>
            <a:ext cx="2377440" cy="731520"/>
          </a:xfrm>
          <a:prstGeom prst="rect">
            <a:avLst/>
          </a:prstGeom>
          <a:solidFill>
            <a:srgbClr val="FF8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54406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Neutrales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7607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3.0 – 3.99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5394960"/>
            <a:ext cx="2377440" cy="731520"/>
          </a:xfrm>
          <a:prstGeom prst="rect">
            <a:avLst/>
          </a:prstGeom>
          <a:solidFill>
            <a:srgbClr val="C32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54406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Desvinculados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57607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&lt; 3.0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6B"/>
                </a:solidFill>
                <a:latin typeface="Calibri"/>
              </a:defRPr>
            </a:pPr>
            <a:r>
              <a:t>Detección automática de limitaciones: alpha bajo, rwg bajo, tasa de respuesta baja, muestra pequeña. Segmentos &lt;5 personas excluidos.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8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65760"/>
            <a:ext cx="502920" cy="502920"/>
          </a:xfrm>
          <a:prstGeom prst="ellipse">
            <a:avLst/>
          </a:prstGeom>
          <a:solidFill>
            <a:srgbClr val="28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4747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51414"/>
                </a:solidFill>
                <a:latin typeface="Calibri"/>
              </a:defRPr>
            </a:pPr>
            <a:r>
              <a:t>Análisis de Redes Organizacionales (ONA)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0467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Más allá de las encuestas: mapea la percepción compartida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51414"/>
                </a:solidFill>
                <a:latin typeface="Calibri"/>
              </a:defRPr>
            </a:pPr>
            <a:r>
              <a:t>¿Qué 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51414"/>
                </a:solidFill>
                <a:latin typeface="Calibri"/>
              </a:defRPr>
            </a:pPr>
            <a:r>
              <a:t>Análisis de redes perceptuales que identifica cómo se agrupan los colaboradores por su visión compartida de la organización.</a:t>
            </a:r>
            <a:br/>
            <a:br/>
            <a:r>
              <a:t>NO es ONA sociométrica — mide percepción, no interacción.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51414"/>
                </a:solidFill>
                <a:latin typeface="Calibri"/>
              </a:defRPr>
            </a:pPr>
            <a:r>
              <a:t>Metodología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51414"/>
                </a:solidFill>
                <a:latin typeface="Calibri"/>
              </a:defRPr>
              <a:buFont typeface="Arial"/>
              <a:buChar char="●"/>
            </a:pPr>
            <a:r>
              <a:t>Similitud coseno entre vectores de 22 dimensiones</a:t>
            </a:r>
          </a:p>
          <a:p>
            <a:pPr>
              <a:spcAft>
                <a:spcPts val="800"/>
              </a:spcAft>
              <a:defRPr sz="1300">
                <a:solidFill>
                  <a:srgbClr val="151414"/>
                </a:solidFill>
                <a:latin typeface="Calibri"/>
              </a:defRPr>
              <a:buFont typeface="Arial"/>
              <a:buChar char="●"/>
            </a:pPr>
            <a:r>
              <a:t>Algoritmo Leiden (50 iteraciones con estabilidad NMI)</a:t>
            </a:r>
          </a:p>
          <a:p>
            <a:pPr>
              <a:spcAft>
                <a:spcPts val="800"/>
              </a:spcAft>
              <a:defRPr sz="1300">
                <a:solidFill>
                  <a:srgbClr val="151414"/>
                </a:solidFill>
                <a:latin typeface="Calibri"/>
              </a:defRPr>
              <a:buFont typeface="Arial"/>
              <a:buChar char="●"/>
            </a:pPr>
            <a:r>
              <a:t>Estabilidad: &gt;0.80 robusto, 0.50-0.80 moderado</a:t>
            </a:r>
          </a:p>
          <a:p>
            <a:pPr>
              <a:spcAft>
                <a:spcPts val="800"/>
              </a:spcAft>
              <a:defRPr sz="1300">
                <a:solidFill>
                  <a:srgbClr val="151414"/>
                </a:solidFill>
                <a:latin typeface="Calibri"/>
              </a:defRPr>
              <a:buFont typeface="Arial"/>
              <a:buChar char="●"/>
            </a:pPr>
            <a:r>
              <a:t>Motor: python-igraph (kernel C, alta performance)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371600"/>
            <a:ext cx="5303520" cy="457200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9448"/>
                </a:solidFill>
                <a:latin typeface="Calibri"/>
              </a:defRPr>
            </a:pPr>
            <a:r>
              <a:t>Métricas y visualizaciones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01168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51414"/>
                </a:solidFill>
                <a:latin typeface="Calibri"/>
              </a:defRPr>
              <a:buFont typeface="Arial"/>
              <a:buChar char="●"/>
            </a:pPr>
            <a:r>
              <a:t>Comunidades perceptuales (grupos con visión similar)</a:t>
            </a:r>
          </a:p>
          <a:p>
            <a:pPr>
              <a:spcAft>
                <a:spcPts val="800"/>
              </a:spcAft>
              <a:defRPr sz="1300">
                <a:solidFill>
                  <a:srgbClr val="151414"/>
                </a:solidFill>
                <a:latin typeface="Calibri"/>
              </a:defRPr>
              <a:buFont typeface="Arial"/>
              <a:buChar char="●"/>
            </a:pPr>
            <a:r>
              <a:t>Nodos puente — traductores culturales entre áreas</a:t>
            </a:r>
          </a:p>
          <a:p>
            <a:pPr>
              <a:spcAft>
                <a:spcPts val="800"/>
              </a:spcAft>
              <a:defRPr sz="1300">
                <a:solidFill>
                  <a:srgbClr val="151414"/>
                </a:solidFill>
                <a:latin typeface="Calibri"/>
              </a:defRPr>
              <a:buFont typeface="Arial"/>
              <a:buChar char="●"/>
            </a:pPr>
            <a:r>
              <a:t>Bordes críticos — conexiones vulnerables</a:t>
            </a:r>
          </a:p>
          <a:p>
            <a:pPr>
              <a:spcAft>
                <a:spcPts val="800"/>
              </a:spcAft>
              <a:defRPr sz="1300">
                <a:solidFill>
                  <a:srgbClr val="151414"/>
                </a:solidFill>
                <a:latin typeface="Calibri"/>
              </a:defRPr>
              <a:buFont typeface="Arial"/>
              <a:buChar char="●"/>
            </a:pPr>
            <a:r>
              <a:t>Centralidad: eigenvector, betweenness, grado</a:t>
            </a:r>
          </a:p>
          <a:p>
            <a:pPr>
              <a:spcAft>
                <a:spcPts val="800"/>
              </a:spcAft>
              <a:defRPr sz="1300">
                <a:solidFill>
                  <a:srgbClr val="151414"/>
                </a:solidFill>
                <a:latin typeface="Calibri"/>
              </a:defRPr>
              <a:buFont typeface="Arial"/>
              <a:buChar char="●"/>
            </a:pPr>
            <a:r>
              <a:t>Matriz de densidad departamental</a:t>
            </a:r>
          </a:p>
          <a:p>
            <a:pPr>
              <a:spcAft>
                <a:spcPts val="800"/>
              </a:spcAft>
              <a:defRPr sz="1300">
                <a:solidFill>
                  <a:srgbClr val="151414"/>
                </a:solidFill>
                <a:latin typeface="Calibri"/>
              </a:defRPr>
              <a:buFont typeface="Arial"/>
              <a:buChar char="●"/>
            </a:pPr>
            <a:r>
              <a:t>Dimensiones discriminantes por comunidad</a:t>
            </a:r>
          </a:p>
          <a:p>
            <a:pPr>
              <a:spcAft>
                <a:spcPts val="800"/>
              </a:spcAft>
              <a:defRPr sz="1300">
                <a:solidFill>
                  <a:srgbClr val="151414"/>
                </a:solidFill>
                <a:latin typeface="Calibri"/>
              </a:defRPr>
              <a:buFont typeface="Arial"/>
              <a:buChar char="●"/>
            </a:pPr>
            <a:r>
              <a:t>Grafo PNG generado en servidor (FR layout)</a:t>
            </a:r>
          </a:p>
          <a:p>
            <a:pPr>
              <a:spcAft>
                <a:spcPts val="800"/>
              </a:spcAft>
              <a:defRPr sz="1300">
                <a:solidFill>
                  <a:srgbClr val="151414"/>
                </a:solidFill>
                <a:latin typeface="Calibri"/>
              </a:defRPr>
              <a:buFont typeface="Arial"/>
              <a:buChar char="●"/>
            </a:pPr>
            <a:r>
              <a:t>Índice de estabilidad global (NMI)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6B"/>
                </a:solidFill>
                <a:latin typeface="Calibri"/>
              </a:defRPr>
            </a:pPr>
            <a:r>
              <a:t>Mínimo 10 respondientes. Resultados almacenados como JSONB con imagen base64 en campaign_analytics.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8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65760"/>
            <a:ext cx="502920" cy="502920"/>
          </a:xfrm>
          <a:prstGeom prst="ellipse">
            <a:avLst/>
          </a:prstGeom>
          <a:solidFill>
            <a:srgbClr val="28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4747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51414"/>
                </a:solidFill>
                <a:latin typeface="Calibri"/>
              </a:defRPr>
            </a:pPr>
            <a:r>
              <a:t>Inteligencia Artificial integrada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0467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Triple backend con fallback automático — narrativas en español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38328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3383280" cy="54864"/>
          </a:xfrm>
          <a:prstGeom prst="rect">
            <a:avLst/>
          </a:prstGeom>
          <a:solidFill>
            <a:srgbClr val="28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89448"/>
                </a:solidFill>
                <a:latin typeface="Calibri"/>
              </a:defRPr>
            </a:pPr>
            <a:r>
              <a:t>Prioridad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1414"/>
                </a:solidFill>
                <a:latin typeface="Calibri"/>
              </a:defRPr>
            </a:pPr>
            <a:r>
              <a:t>Anthropic (Claude Haiku 4.5)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~2-5s · ~$0.03/análisis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7373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5E5E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59" y="1371600"/>
            <a:ext cx="338328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59" y="1371600"/>
            <a:ext cx="3383280" cy="54864"/>
          </a:xfrm>
          <a:prstGeom prst="rect">
            <a:avLst/>
          </a:prstGeom>
          <a:solidFill>
            <a:srgbClr val="1FA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39" y="15087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ACC0"/>
                </a:solidFill>
                <a:latin typeface="Calibri"/>
              </a:defRPr>
            </a:pPr>
            <a:r>
              <a:t>Prioridad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39" y="1783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1414"/>
                </a:solidFill>
                <a:latin typeface="Calibri"/>
              </a:defRPr>
            </a:pPr>
            <a:r>
              <a:t>DGX / OpenAI-compatible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39" y="21945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Qwen 2.5 72B vía Cloudflare Tunnel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59" y="17373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5E5E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371600"/>
            <a:ext cx="338328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371600"/>
            <a:ext cx="3383280" cy="54864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5087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6B6B"/>
                </a:solidFill>
                <a:latin typeface="Calibri"/>
              </a:defRPr>
            </a:pPr>
            <a:r>
              <a:t>Prioridad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1783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1414"/>
                </a:solidFill>
                <a:latin typeface="Calibri"/>
              </a:defRPr>
            </a:pPr>
            <a:r>
              <a:t>Ollama nativo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1945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Auto-hospedado, sin costo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731520" y="3017520"/>
          <a:ext cx="10698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630936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Análisis</a:t>
                      </a:r>
                    </a:p>
                  </a:txBody>
                  <a:tcPr anchor="ctr">
                    <a:solidFill>
                      <a:srgbClr val="227A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Página</a:t>
                      </a:r>
                    </a:p>
                  </a:txBody>
                  <a:tcPr anchor="ctr">
                    <a:solidFill>
                      <a:srgbClr val="227A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Genera</a:t>
                      </a:r>
                    </a:p>
                  </a:txBody>
                  <a:tcPr anchor="ctr">
                    <a:solidFill>
                      <a:srgbClr val="227A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Narrativa ejecutiva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Dashboard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Resumen, hallazgos, preocupaciones, recomendación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Insights de drivers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Drivers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Interpretación, paradojas, quick wins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Contexto de alertas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Alertas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Hipótesis de causa raíz + recomendación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Perfiles de segmento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Segmentos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Narrativa con fortalezas/riesgos por grupo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Análisis de comentarios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Comentarios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Temas, sentimiento, resumen por tipo de pregunta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Narrativa de tendencias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Tendencias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Trayectoria, dimensiones en alza/baja, inflexiones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6B"/>
                </a:solidFill>
                <a:latin typeface="Calibri"/>
              </a:defRPr>
            </a:pPr>
            <a:r>
              <a:t>La IA solo resume hallazgos estadísticos existentes — sin riesgo de alucinación. Prompts en español. Fail-fast si no hay proveedor configurado.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8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65760"/>
            <a:ext cx="502920" cy="502920"/>
          </a:xfrm>
          <a:prstGeom prst="ellipse">
            <a:avLst/>
          </a:prstGeom>
          <a:solidFill>
            <a:srgbClr val="28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4747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51414"/>
                </a:solidFill>
                <a:latin typeface="Calibri"/>
              </a:defRPr>
            </a:pPr>
            <a:r>
              <a:t>Sistema de marca blanca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0467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Cada organización ve su propia identidad en todos los puntos de contacto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51414"/>
                </a:solidFill>
                <a:latin typeface="Calibri"/>
              </a:defRPr>
            </a:pPr>
            <a:r>
              <a:t>Elementos personalizables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51414"/>
                </a:solidFill>
                <a:latin typeface="Calibri"/>
              </a:defRPr>
              <a:buFont typeface="Arial"/>
              <a:buChar char="●"/>
            </a:pPr>
            <a:r>
              <a:t>Logo (subida y almacenamiento en CDN — Supabase Storage)</a:t>
            </a:r>
          </a:p>
          <a:p>
            <a:pPr>
              <a:spcAft>
                <a:spcPts val="800"/>
              </a:spcAft>
              <a:defRPr sz="1400">
                <a:solidFill>
                  <a:srgbClr val="151414"/>
                </a:solidFill>
                <a:latin typeface="Calibri"/>
              </a:defRPr>
              <a:buFont typeface="Arial"/>
              <a:buChar char="●"/>
            </a:pPr>
            <a:r>
              <a:t>Colores: primario, secundario, acento, texto, fondo</a:t>
            </a:r>
          </a:p>
          <a:p>
            <a:pPr>
              <a:spcAft>
                <a:spcPts val="800"/>
              </a:spcAft>
              <a:defRPr sz="1400">
                <a:solidFill>
                  <a:srgbClr val="151414"/>
                </a:solidFill>
                <a:latin typeface="Calibri"/>
              </a:defRPr>
              <a:buFont typeface="Arial"/>
              <a:buChar char="●"/>
            </a:pPr>
            <a:r>
              <a:t>Texto de bienvenida y agradecimiento personalizado</a:t>
            </a:r>
          </a:p>
          <a:p>
            <a:pPr>
              <a:spcAft>
                <a:spcPts val="800"/>
              </a:spcAft>
              <a:defRPr sz="1400">
                <a:solidFill>
                  <a:srgbClr val="151414"/>
                </a:solidFill>
                <a:latin typeface="Calibri"/>
              </a:defRPr>
              <a:buFont typeface="Arial"/>
              <a:buChar char="●"/>
            </a:pPr>
            <a:r>
              <a:t>Pie de email personalizado</a:t>
            </a:r>
          </a:p>
          <a:p>
            <a:pPr>
              <a:spcAft>
                <a:spcPts val="800"/>
              </a:spcAft>
              <a:defRPr sz="1400">
                <a:solidFill>
                  <a:srgbClr val="151414"/>
                </a:solidFill>
                <a:latin typeface="Calibri"/>
              </a:defRPr>
              <a:buFont typeface="Arial"/>
              <a:buChar char="●"/>
            </a:pPr>
            <a:r>
              <a:t>Opción "Powered by ClimaLab" configurable</a:t>
            </a:r>
          </a:p>
          <a:p>
            <a:pPr>
              <a:spcAft>
                <a:spcPts val="800"/>
              </a:spcAft>
              <a:defRPr sz="1400">
                <a:solidFill>
                  <a:srgbClr val="151414"/>
                </a:solidFill>
                <a:latin typeface="Calibri"/>
              </a:defRPr>
              <a:buFont typeface="Arial"/>
              <a:buChar char="●"/>
            </a:pPr>
            <a:r>
              <a:t>Editor visual con previsualización en tiempo real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5303520" cy="411480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9448"/>
                </a:solidFill>
                <a:latin typeface="Calibri"/>
              </a:defRPr>
            </a:pPr>
            <a:r>
              <a:t>Puntos de contacto branded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583680" y="2103120"/>
          <a:ext cx="49377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2608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Punto de contacto</a:t>
                      </a:r>
                    </a:p>
                  </a:txBody>
                  <a:tcPr anchor="ctr">
                    <a:solidFill>
                      <a:srgbClr val="227A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Personalización</a:t>
                      </a:r>
                    </a:p>
                  </a:txBody>
                  <a:tcPr anchor="ctr">
                    <a:solidFill>
                      <a:srgbClr val="227A3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Encuesta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Header, botones, progreso, textos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Emails (4 tipos)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Header con logo, CTA color acento, footer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Reporte DOCX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Portada, encabezados, KPIs, logo embebido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Panel de resultados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Logo en sidebar de navegación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8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65760"/>
            <a:ext cx="502920" cy="502920"/>
          </a:xfrm>
          <a:prstGeom prst="ellipse">
            <a:avLst/>
          </a:prstGeom>
          <a:solidFill>
            <a:srgbClr val="28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4747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51414"/>
                </a:solidFill>
                <a:latin typeface="Calibri"/>
              </a:defRPr>
            </a:pPr>
            <a:r>
              <a:t>Infraestructura de email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0467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4 tipos de comunicación automatizada y personalizada vía Resend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  <a:gridCol w="5212080"/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Tipo</a:t>
                      </a:r>
                    </a:p>
                  </a:txBody>
                  <a:tcPr anchor="ctr">
                    <a:solidFill>
                      <a:srgbClr val="227A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Momento</a:t>
                      </a:r>
                    </a:p>
                  </a:txBody>
                  <a:tcPr anchor="ctr">
                    <a:solidFill>
                      <a:srgbClr val="227A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Contenido</a:t>
                      </a:r>
                    </a:p>
                  </a:txBody>
                  <a:tcPr anchor="ctr">
                    <a:solidFill>
                      <a:srgbClr val="227A3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Invitación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Lanzamiento de campaña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Link de encuesta + contexto organizacional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Recordatorio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Durante campaña activa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Seguimiento a no completados (con tracking)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Campaña cerrada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Al cerrar medición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Aviso de fin de período de respuesta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Resultados listos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Post-análisis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Compartir hallazgos con stakeholders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3891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51414"/>
                </a:solidFill>
                <a:latin typeface="Calibri"/>
              </a:defRPr>
              <a:buFont typeface="Arial"/>
              <a:buChar char="●"/>
            </a:pPr>
            <a:r>
              <a:t>Layout HTML compartido con logo/colores de la organización</a:t>
            </a:r>
          </a:p>
          <a:p>
            <a:pPr>
              <a:spcAft>
                <a:spcPts val="800"/>
              </a:spcAft>
              <a:defRPr sz="1400">
                <a:solidFill>
                  <a:srgbClr val="151414"/>
                </a:solidFill>
                <a:latin typeface="Calibri"/>
              </a:defRPr>
              <a:buFont typeface="Arial"/>
              <a:buChar char="●"/>
            </a:pPr>
            <a:r>
              <a:t>Botón CTA con color acento del brand de la organización</a:t>
            </a:r>
          </a:p>
          <a:p>
            <a:pPr>
              <a:spcAft>
                <a:spcPts val="800"/>
              </a:spcAft>
              <a:defRPr sz="1400">
                <a:solidFill>
                  <a:srgbClr val="151414"/>
                </a:solidFill>
                <a:latin typeface="Calibri"/>
              </a:defRPr>
              <a:buFont typeface="Arial"/>
              <a:buChar char="●"/>
            </a:pPr>
            <a:r>
              <a:t>Footer condicional 'Powered by ClimaLab'</a:t>
            </a:r>
          </a:p>
          <a:p>
            <a:pPr>
              <a:spcAft>
                <a:spcPts val="800"/>
              </a:spcAft>
              <a:defRPr sz="1400">
                <a:solidFill>
                  <a:srgbClr val="151414"/>
                </a:solidFill>
                <a:latin typeface="Calibri"/>
              </a:defRPr>
              <a:buFont typeface="Arial"/>
              <a:buChar char="●"/>
            </a:pPr>
            <a:r>
              <a:t>Tracking de recordatorios: fecha de último envío + contador por participante</a:t>
            </a:r>
          </a:p>
          <a:p>
            <a:pPr>
              <a:spcAft>
                <a:spcPts val="800"/>
              </a:spcAft>
              <a:defRPr sz="1400">
                <a:solidFill>
                  <a:srgbClr val="151414"/>
                </a:solidFill>
                <a:latin typeface="Calibri"/>
              </a:defRPr>
              <a:buFont typeface="Arial"/>
              <a:buChar char="●"/>
            </a:pPr>
            <a:r>
              <a:t>Envío masivo de recordatorios con un clic desde la página de campaña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8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65760"/>
            <a:ext cx="502920" cy="502920"/>
          </a:xfrm>
          <a:prstGeom prst="ellipse">
            <a:avLst/>
          </a:prstGeom>
          <a:solidFill>
            <a:srgbClr val="28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4747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51414"/>
                </a:solidFill>
                <a:latin typeface="Calibri"/>
              </a:defRPr>
            </a:pPr>
            <a:r>
              <a:t>Exportación y reportes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0467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Lleva los resultados donde los necesites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029200"/>
                <a:gridCol w="3840480"/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Formato</a:t>
                      </a:r>
                    </a:p>
                  </a:txBody>
                  <a:tcPr anchor="ctr">
                    <a:solidFill>
                      <a:srgbClr val="227A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Contenido</a:t>
                      </a:r>
                    </a:p>
                  </a:txBody>
                  <a:tcPr anchor="ctr">
                    <a:solidFill>
                      <a:srgbClr val="227A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Uso</a:t>
                      </a:r>
                    </a:p>
                  </a:txBody>
                  <a:tcPr anchor="ctr">
                    <a:solidFill>
                      <a:srgbClr val="227A3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DOCX (Word)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Reporte ejecutivo — 14 secciones con marca y logo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Presentar a directiva, editar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Excel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8 hojas (dims, ítems, segmentos, drivers, alertas, comentarios, ficha)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Análisis profundo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CSV / JSON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Datos crudos de dimensiones y resultados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Integración con BI tools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Reporte IA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Narrativa ejecutiva con todos los insights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Comunicación rápida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1414"/>
                </a:solidFill>
                <a:latin typeface="Calibri"/>
              </a:defRPr>
            </a:pPr>
            <a:r>
              <a:t>14 secciones del reporte DOCX: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663440"/>
            <a:ext cx="1417320" cy="41148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70916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51414"/>
                </a:solidFill>
                <a:latin typeface="Calibri"/>
              </a:defRPr>
            </a:pPr>
            <a:r>
              <a:t>Portada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4663440"/>
            <a:ext cx="1417320" cy="41148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470916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51414"/>
                </a:solidFill>
                <a:latin typeface="Calibri"/>
              </a:defRPr>
            </a:pPr>
            <a:r>
              <a:t>Resumen ejecutivo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0" y="4663440"/>
            <a:ext cx="1417320" cy="41148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77640" y="470916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51414"/>
                </a:solidFill>
                <a:latin typeface="Calibri"/>
              </a:defRPr>
            </a:pPr>
            <a:r>
              <a:t>KPIs clave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32120" y="4663440"/>
            <a:ext cx="1417320" cy="41148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0" y="470916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51414"/>
                </a:solidFill>
                <a:latin typeface="Calibri"/>
              </a:defRPr>
            </a:pPr>
            <a:r>
              <a:t>Categorías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0" y="4663440"/>
            <a:ext cx="1417320" cy="41148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78040" y="470916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51414"/>
                </a:solidFill>
                <a:latin typeface="Calibri"/>
              </a:defRPr>
            </a:pPr>
            <a:r>
              <a:t>Dimensiones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32520" y="4663440"/>
            <a:ext cx="1417320" cy="41148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0" y="470916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51414"/>
                </a:solidFill>
                <a:latin typeface="Calibri"/>
              </a:defRPr>
            </a:pPr>
            <a:r>
              <a:t>Departamentos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332720" y="4663440"/>
            <a:ext cx="1417320" cy="41148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78440" y="470916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51414"/>
                </a:solidFill>
                <a:latin typeface="Calibri"/>
              </a:defRPr>
            </a:pPr>
            <a:r>
              <a:t>Alertas (+IA)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257800"/>
            <a:ext cx="1417320" cy="41148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3035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51414"/>
                </a:solidFill>
                <a:latin typeface="Calibri"/>
              </a:defRPr>
            </a:pPr>
            <a:r>
              <a:t>Drivers (+IA)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31720" y="5257800"/>
            <a:ext cx="1417320" cy="41148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77440" y="53035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51414"/>
                </a:solidFill>
                <a:latin typeface="Calibri"/>
              </a:defRPr>
            </a:pPr>
            <a:r>
              <a:t>Comentarios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1920" y="5257800"/>
            <a:ext cx="1417320" cy="41148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77640" y="53035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51414"/>
                </a:solidFill>
                <a:latin typeface="Calibri"/>
              </a:defRPr>
            </a:pPr>
            <a:r>
              <a:t>Perfiles de segmento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32120" y="5257800"/>
            <a:ext cx="1417320" cy="41148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77840" y="53035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51414"/>
                </a:solidFill>
                <a:latin typeface="Calibri"/>
              </a:defRPr>
            </a:pPr>
            <a:r>
              <a:t>Tendencias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0" y="5257800"/>
            <a:ext cx="1417320" cy="41148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78040" y="53035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51414"/>
                </a:solidFill>
                <a:latin typeface="Calibri"/>
              </a:defRPr>
            </a:pPr>
            <a:r>
              <a:t>Indicadores de negocio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32520" y="5257800"/>
            <a:ext cx="1417320" cy="41148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0" y="53035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51414"/>
                </a:solidFill>
                <a:latin typeface="Calibri"/>
              </a:defRPr>
            </a:pPr>
            <a:r>
              <a:t>Red perceptual (ONA)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332720" y="5257800"/>
            <a:ext cx="1417320" cy="41148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78440" y="53035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51414"/>
                </a:solidFill>
                <a:latin typeface="Calibri"/>
              </a:defRPr>
            </a:pPr>
            <a:r>
              <a:t>Ficha técnica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Compatible con Microsoft Word y Google Docs. Totalmente editable. Branding con colores y logo de la organización.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8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65760"/>
            <a:ext cx="502920" cy="502920"/>
          </a:xfrm>
          <a:prstGeom prst="ellipse">
            <a:avLst/>
          </a:prstGeom>
          <a:solidFill>
            <a:srgbClr val="28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4747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51414"/>
                </a:solidFill>
                <a:latin typeface="Calibri"/>
              </a:defRPr>
            </a:pPr>
            <a:r>
              <a:t>Seguridad y privacidad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0467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Arquitectura diseñada para proteger datos sensibles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  <a:gridCol w="5669280"/>
              </a:tblGrid>
              <a:tr h="51435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Capa</a:t>
                      </a:r>
                    </a:p>
                  </a:txBody>
                  <a:tcPr anchor="ctr">
                    <a:solidFill>
                      <a:srgbClr val="227A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Mecanismo</a:t>
                      </a:r>
                    </a:p>
                  </a:txBody>
                  <a:tcPr anchor="ctr">
                    <a:solidFill>
                      <a:srgbClr val="227A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Detalle</a:t>
                      </a:r>
                    </a:p>
                  </a:txBody>
                  <a:tcPr anchor="ctr">
                    <a:solidFill>
                      <a:srgbClr val="227A3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Aislamiento multi-tenant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Row-Level Security (RLS)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Políticas en PostgreSQL a nivel de fila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Separación de PII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Tablas separadas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participants (nombre/email) ≠ respondents (anónimo)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Acceso a encuesta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Token único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Sin email ni login requerido para responder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Anonimato estadístico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Umbral k=5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Segmentos con &lt;5 personas excluidos automáticamente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Control de acceso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Roles + DB-level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super_admin, org_admin, member (RLS enforced)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Autenticación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Magic link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Sin contraseñas — link por email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Calidad de datos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Checks de atención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2 ítems de validación + ítems invertidos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8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65760"/>
            <a:ext cx="502920" cy="502920"/>
          </a:xfrm>
          <a:prstGeom prst="ellipse">
            <a:avLst/>
          </a:prstGeom>
          <a:solidFill>
            <a:srgbClr val="28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4747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51414"/>
                </a:solidFill>
                <a:latin typeface="Calibri"/>
              </a:defRPr>
            </a:pPr>
            <a:r>
              <a:t>Stack tecnológico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0467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Tecnología moderna, escalable y mantenible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6984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  <a:gridCol w="5669280"/>
              </a:tblGrid>
              <a:tr h="4191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Componente</a:t>
                      </a:r>
                    </a:p>
                  </a:txBody>
                  <a:tcPr anchor="ctr">
                    <a:solidFill>
                      <a:srgbClr val="227A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Tecnología</a:t>
                      </a:r>
                    </a:p>
                  </a:txBody>
                  <a:tcPr anchor="ctr">
                    <a:solidFill>
                      <a:srgbClr val="227A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Por qué</a:t>
                      </a:r>
                    </a:p>
                  </a:txBody>
                  <a:tcPr anchor="ctr">
                    <a:solidFill>
                      <a:srgbClr val="227A3C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Framework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Next.js 16 (App Router)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Server Components, SSR, serverless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Lenguaje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TypeScript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Type-safety end-to-end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Base de datos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Supabase (PostgreSQL)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Auth + RLS + Storage + Realtime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UI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shadcn/ui + Tailwind CSS v4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Accesible (Radix), personalizable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Gráficos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Recharts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21 componentes reutilizables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Validación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Zod + React Hook Form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Schemas compartidos client/server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Email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Resend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Transaccional, HTML templates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IA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Anthropic / OpenAI / Ollama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Triple backend con fallback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ONA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Python (igraph + matplotlib)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Kernel C — alta performance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Exportación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docx + exceljs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DOCX editable + Excel multi-hoja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Deploy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Vercel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Edge, serverless, CI/CD automático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8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65760"/>
            <a:ext cx="502920" cy="502920"/>
          </a:xfrm>
          <a:prstGeom prst="ellipse">
            <a:avLst/>
          </a:prstGeom>
          <a:solidFill>
            <a:srgbClr val="28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4747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51414"/>
                </a:solidFill>
                <a:latin typeface="Calibri"/>
              </a:defRPr>
            </a:pPr>
            <a:r>
              <a:t>¿Para quién es ClimaLab?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0467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Mercado objetivo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029200" cy="182880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89448"/>
                </a:solidFill>
                <a:latin typeface="Calibri"/>
              </a:defRPr>
            </a:pPr>
            <a:r>
              <a:t>Tamaño de empresa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51414"/>
                </a:solidFill>
                <a:latin typeface="Calibri"/>
              </a:defRPr>
            </a:pPr>
            <a:r>
              <a:t>20 a 500+ colaboradores</a:t>
            </a:r>
            <a:br/>
            <a:r>
              <a:t>PYMEs y medianas empresas que necesitan datos</a:t>
            </a:r>
            <a:br/>
            <a:r>
              <a:t>para gestionar su clima, no solo intuición.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371600"/>
            <a:ext cx="5303520" cy="182880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89448"/>
                </a:solidFill>
                <a:latin typeface="Calibri"/>
              </a:defRPr>
            </a:pPr>
            <a:r>
              <a:t>Geografía y contexto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92024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51414"/>
                </a:solidFill>
                <a:latin typeface="Calibri"/>
              </a:defRPr>
            </a:pPr>
            <a:r>
              <a:t>LATAM — diseñado para el contexto cultural</a:t>
            </a:r>
            <a:br/>
            <a:r>
              <a:t>y lingüístico latinoamericano.</a:t>
            </a:r>
            <a:br/>
            <a:r>
              <a:t>Todos los sectores (módulos sectoriales en roadmap).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51414"/>
                </a:solidFill>
                <a:latin typeface="Calibri"/>
              </a:defRPr>
            </a:pPr>
            <a:r>
              <a:t>Decisores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114800"/>
            <a:ext cx="256032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114800"/>
            <a:ext cx="2560320" cy="54864"/>
          </a:xfrm>
          <a:prstGeom prst="rect">
            <a:avLst/>
          </a:prstGeom>
          <a:solidFill>
            <a:srgbClr val="28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976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51414"/>
                </a:solidFill>
                <a:latin typeface="Calibri"/>
              </a:defRPr>
            </a:pPr>
            <a:r>
              <a:t>Recursos Humanos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634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6B"/>
                </a:solidFill>
                <a:latin typeface="Calibri"/>
              </a:defRPr>
            </a:pPr>
            <a:r>
              <a:t>Diagnóstico y seguimiento</a:t>
            </a:r>
            <a:br/>
            <a:r>
              <a:t>de clima organizacional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66160" y="4114800"/>
            <a:ext cx="256032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66160" y="4114800"/>
            <a:ext cx="2560320" cy="54864"/>
          </a:xfrm>
          <a:prstGeom prst="rect">
            <a:avLst/>
          </a:prstGeom>
          <a:solidFill>
            <a:srgbClr val="28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40" y="42976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51414"/>
                </a:solidFill>
                <a:latin typeface="Calibri"/>
              </a:defRPr>
            </a:pPr>
            <a:r>
              <a:t>Gerencia General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40" y="46634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6B"/>
                </a:solidFill>
                <a:latin typeface="Calibri"/>
              </a:defRPr>
            </a:pPr>
            <a:r>
              <a:t>Decisiones basadas en datos</a:t>
            </a:r>
            <a:br/>
            <a:r>
              <a:t>sobre cultura y gente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114800"/>
            <a:ext cx="256032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4114800"/>
            <a:ext cx="2560320" cy="54864"/>
          </a:xfrm>
          <a:prstGeom prst="rect">
            <a:avLst/>
          </a:prstGeom>
          <a:solidFill>
            <a:srgbClr val="28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42976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51414"/>
                </a:solidFill>
                <a:latin typeface="Calibri"/>
              </a:defRPr>
            </a:pPr>
            <a:r>
              <a:t>Transformación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6634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6B"/>
                </a:solidFill>
                <a:latin typeface="Calibri"/>
              </a:defRPr>
            </a:pPr>
            <a:r>
              <a:t>Medición de impacto</a:t>
            </a:r>
            <a:br/>
            <a:r>
              <a:t>de iniciativas de cambio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35440" y="4114800"/>
            <a:ext cx="256032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35440" y="4114800"/>
            <a:ext cx="2560320" cy="54864"/>
          </a:xfrm>
          <a:prstGeom prst="rect">
            <a:avLst/>
          </a:prstGeom>
          <a:solidFill>
            <a:srgbClr val="28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42976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51414"/>
                </a:solidFill>
                <a:latin typeface="Calibri"/>
              </a:defRPr>
            </a:pPr>
            <a:r>
              <a:t>Consultores OD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46634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6B"/>
                </a:solidFill>
                <a:latin typeface="Calibri"/>
              </a:defRPr>
            </a:pPr>
            <a:r>
              <a:t>Herramienta escalable</a:t>
            </a:r>
            <a:br/>
            <a:r>
              <a:t>para múltiples clientes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8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65760"/>
            <a:ext cx="502920" cy="502920"/>
          </a:xfrm>
          <a:prstGeom prst="ellipse">
            <a:avLst/>
          </a:prstGeom>
          <a:solidFill>
            <a:srgbClr val="28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4747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51414"/>
                </a:solidFill>
                <a:latin typeface="Calibri"/>
              </a:defRPr>
            </a:pPr>
            <a:r>
              <a:t>Ventajas competitivas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0467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¿Por qué elegir ClimaLab?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698479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498079"/>
              </a:tblGrid>
              <a:tr h="44057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Ventaja</a:t>
                      </a:r>
                    </a:p>
                  </a:txBody>
                  <a:tcPr anchor="ctr">
                    <a:solidFill>
                      <a:srgbClr val="227A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Detalle</a:t>
                      </a:r>
                    </a:p>
                  </a:txBody>
                  <a:tcPr anchor="ctr">
                    <a:solidFill>
                      <a:srgbClr val="227A3C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Rigor científico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22 dimensiones validadas (vs. 6-10 genéricas)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Análisis psicométrico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rwg, Alpha, Pearson — nivel de investigación académica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Red perceptual (ONA)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Único en mercado PYME: comunidades y puentes culturales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IA triple backend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Narrativas automáticas con fallback inteligente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Marca blanca completa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Encuesta, emails, reportes — identidad del cliente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Ficha técnica auto-generada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Limitaciones y metodología transparente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LATAM-nativo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Contexto cultural y lingüístico latinoamericano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Exportación editable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DOCX 14 secciones (no PDF estático)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Anonimato real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PII separado, umbrales de segmento, tokens sin login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05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Multi-instrumento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1414"/>
                          </a:solidFill>
                          <a:latin typeface="Calibri"/>
                        </a:defRPr>
                      </a:pPr>
                      <a:r>
                        <a:t>Base + 3 módulos opcionales por campaña</a:t>
                      </a:r>
                    </a:p>
                  </a:txBody>
                  <a:tcPr anchor="ctr">
                    <a:solidFill>
                      <a:srgbClr val="F0F7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8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65760"/>
            <a:ext cx="502920" cy="502920"/>
          </a:xfrm>
          <a:prstGeom prst="ellipse">
            <a:avLst/>
          </a:prstGeom>
          <a:solidFill>
            <a:srgbClr val="28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4747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51414"/>
                </a:solidFill>
                <a:latin typeface="Calibri"/>
              </a:defRPr>
            </a:pPr>
            <a:r>
              <a:t>Roadmap — Evolución del producto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0467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Tres horizontes de desarrollo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38328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3383280" cy="54864"/>
          </a:xfrm>
          <a:prstGeom prst="rect">
            <a:avLst/>
          </a:prstGeom>
          <a:solidFill>
            <a:srgbClr val="28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9448"/>
                </a:solidFill>
                <a:latin typeface="Calibri"/>
              </a:defRPr>
            </a:pPr>
            <a:r>
              <a:t>H1: Operacional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Completado — v4.9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1414"/>
                </a:solidFill>
                <a:latin typeface="Calibri"/>
              </a:defRPr>
              <a:buFont typeface="Arial"/>
              <a:buChar char="●"/>
            </a:pPr>
            <a:r>
              <a:t>Core v4.0 + Pulso + 3 módulos opcionales</a:t>
            </a:r>
          </a:p>
          <a:p>
            <a:pPr>
              <a:spcAft>
                <a:spcPts val="600"/>
              </a:spcAft>
              <a:defRPr sz="1200">
                <a:solidFill>
                  <a:srgbClr val="151414"/>
                </a:solidFill>
                <a:latin typeface="Calibri"/>
              </a:defRPr>
              <a:buFont typeface="Arial"/>
              <a:buChar char="●"/>
            </a:pPr>
            <a:r>
              <a:t>Dashboard 11 sub-páginas + 21 componentes</a:t>
            </a:r>
          </a:p>
          <a:p>
            <a:pPr>
              <a:spcAft>
                <a:spcPts val="600"/>
              </a:spcAft>
              <a:defRPr sz="1200">
                <a:solidFill>
                  <a:srgbClr val="151414"/>
                </a:solidFill>
                <a:latin typeface="Calibri"/>
              </a:defRPr>
              <a:buFont typeface="Arial"/>
              <a:buChar char="●"/>
            </a:pPr>
            <a:r>
              <a:t>IA triple backend (Anthropic + DGX + Ollama)</a:t>
            </a:r>
          </a:p>
          <a:p>
            <a:pPr>
              <a:spcAft>
                <a:spcPts val="600"/>
              </a:spcAft>
              <a:defRPr sz="1200">
                <a:solidFill>
                  <a:srgbClr val="151414"/>
                </a:solidFill>
                <a:latin typeface="Calibri"/>
              </a:defRPr>
              <a:buFont typeface="Arial"/>
              <a:buChar char="●"/>
            </a:pPr>
            <a:r>
              <a:t>ONA perceptual (Leiden + NMI)</a:t>
            </a:r>
          </a:p>
          <a:p>
            <a:pPr>
              <a:spcAft>
                <a:spcPts val="600"/>
              </a:spcAft>
              <a:defRPr sz="1200">
                <a:solidFill>
                  <a:srgbClr val="151414"/>
                </a:solidFill>
                <a:latin typeface="Calibri"/>
              </a:defRPr>
              <a:buFont typeface="Arial"/>
              <a:buChar char="●"/>
            </a:pPr>
            <a:r>
              <a:t>DOCX/Excel/CSV + marca blanca + emails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9" y="1371600"/>
            <a:ext cx="338328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1371600"/>
            <a:ext cx="3383280" cy="54864"/>
          </a:xfrm>
          <a:prstGeom prst="rect">
            <a:avLst/>
          </a:prstGeom>
          <a:solidFill>
            <a:srgbClr val="1FA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39" y="15544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ACC0"/>
                </a:solidFill>
                <a:latin typeface="Calibri"/>
              </a:defRPr>
            </a:pPr>
            <a:r>
              <a:t>H2: Analítico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39" y="19202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6–18 meses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39" y="22860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1414"/>
                </a:solidFill>
                <a:latin typeface="Calibri"/>
              </a:defRPr>
              <a:buFont typeface="Arial"/>
              <a:buChar char="●"/>
            </a:pPr>
            <a:r>
              <a:t>Análisis Factorial Confirmatorio (CFA)</a:t>
            </a:r>
          </a:p>
          <a:p>
            <a:pPr>
              <a:spcAft>
                <a:spcPts val="600"/>
              </a:spcAft>
              <a:defRPr sz="1200">
                <a:solidFill>
                  <a:srgbClr val="151414"/>
                </a:solidFill>
                <a:latin typeface="Calibri"/>
              </a:defRPr>
              <a:buFont typeface="Arial"/>
              <a:buChar char="●"/>
            </a:pPr>
            <a:r>
              <a:t>Invarianza de medición (cross-org)</a:t>
            </a:r>
          </a:p>
          <a:p>
            <a:pPr>
              <a:spcAft>
                <a:spcPts val="600"/>
              </a:spcAft>
              <a:defRPr sz="1200">
                <a:solidFill>
                  <a:srgbClr val="151414"/>
                </a:solidFill>
                <a:latin typeface="Calibri"/>
              </a:defRPr>
              <a:buFont typeface="Arial"/>
              <a:buChar char="●"/>
            </a:pPr>
            <a:r>
              <a:t>Normas regionales LATAM</a:t>
            </a:r>
          </a:p>
          <a:p>
            <a:pPr>
              <a:spcAft>
                <a:spcPts val="600"/>
              </a:spcAft>
              <a:defRPr sz="1200">
                <a:solidFill>
                  <a:srgbClr val="151414"/>
                </a:solidFill>
                <a:latin typeface="Calibri"/>
              </a:defRPr>
              <a:buFont typeface="Arial"/>
              <a:buChar char="●"/>
            </a:pPr>
            <a:r>
              <a:t>ONA sociométrica (interacción real)</a:t>
            </a:r>
          </a:p>
          <a:p>
            <a:pPr>
              <a:spcAft>
                <a:spcPts val="600"/>
              </a:spcAft>
              <a:defRPr sz="1200">
                <a:solidFill>
                  <a:srgbClr val="151414"/>
                </a:solidFill>
                <a:latin typeface="Calibri"/>
              </a:defRPr>
              <a:buFont typeface="Arial"/>
              <a:buChar char="●"/>
            </a:pPr>
            <a:r>
              <a:t>Intervalos de confianza para segmentos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371600"/>
            <a:ext cx="338328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371600"/>
            <a:ext cx="3383280" cy="54864"/>
          </a:xfrm>
          <a:prstGeom prst="rect">
            <a:avLst/>
          </a:prstGeom>
          <a:solidFill>
            <a:srgbClr val="2F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5544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F5DFF"/>
                </a:solidFill>
                <a:latin typeface="Calibri"/>
              </a:defRPr>
            </a:pPr>
            <a:r>
              <a:t>H3: Avanzado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19202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18–36 meses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2860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1414"/>
                </a:solidFill>
                <a:latin typeface="Calibri"/>
              </a:defRPr>
              <a:buFont typeface="Arial"/>
              <a:buChar char="●"/>
            </a:pPr>
            <a:r>
              <a:t>Modelado Lineal Jerárquico (HLM)</a:t>
            </a:r>
          </a:p>
          <a:p>
            <a:pPr>
              <a:spcAft>
                <a:spcPts val="600"/>
              </a:spcAft>
              <a:defRPr sz="1200">
                <a:solidFill>
                  <a:srgbClr val="151414"/>
                </a:solidFill>
                <a:latin typeface="Calibri"/>
              </a:defRPr>
              <a:buFont typeface="Arial"/>
              <a:buChar char="●"/>
            </a:pPr>
            <a:r>
              <a:t>NLP para clasificación de comentarios</a:t>
            </a:r>
          </a:p>
          <a:p>
            <a:pPr>
              <a:spcAft>
                <a:spcPts val="600"/>
              </a:spcAft>
              <a:defRPr sz="1200">
                <a:solidFill>
                  <a:srgbClr val="151414"/>
                </a:solidFill>
                <a:latin typeface="Calibri"/>
              </a:defRPr>
              <a:buFont typeface="Arial"/>
              <a:buChar char="●"/>
            </a:pPr>
            <a:r>
              <a:t>Módulos sectoriales (salud, retail...)</a:t>
            </a:r>
          </a:p>
          <a:p>
            <a:pPr>
              <a:spcAft>
                <a:spcPts val="600"/>
              </a:spcAft>
              <a:defRPr sz="1200">
                <a:solidFill>
                  <a:srgbClr val="151414"/>
                </a:solidFill>
                <a:latin typeface="Calibri"/>
              </a:defRPr>
              <a:buFont typeface="Arial"/>
              <a:buChar char="●"/>
            </a:pPr>
            <a:r>
              <a:t>API e integraciones (HRIS, BI, webhooks)</a:t>
            </a:r>
          </a:p>
          <a:p>
            <a:pPr>
              <a:spcAft>
                <a:spcPts val="600"/>
              </a:spcAft>
              <a:defRPr sz="1200">
                <a:solidFill>
                  <a:srgbClr val="151414"/>
                </a:solidFill>
                <a:latin typeface="Calibri"/>
              </a:defRPr>
              <a:buFont typeface="Arial"/>
              <a:buChar char="●"/>
            </a:pPr>
            <a:r>
              <a:t>Dashboard de administrador multi-org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8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65760"/>
            <a:ext cx="502920" cy="502920"/>
          </a:xfrm>
          <a:prstGeom prst="ellipse">
            <a:avLst/>
          </a:prstGeom>
          <a:solidFill>
            <a:srgbClr val="28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4747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51414"/>
                </a:solidFill>
                <a:latin typeface="Calibri"/>
              </a:defRPr>
            </a:pPr>
            <a:r>
              <a:t>Flujo de trabajo completo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0467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Del diagnóstico a la acción en 7 pasos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554480"/>
            <a:ext cx="548640" cy="548640"/>
          </a:xfrm>
          <a:prstGeom prst="ellipse">
            <a:avLst/>
          </a:prstGeom>
          <a:solidFill>
            <a:srgbClr val="28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002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5E5E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2860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51414"/>
                </a:solidFill>
                <a:latin typeface="Calibri"/>
              </a:defRPr>
            </a:pPr>
            <a:r>
              <a:t>Configura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65176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B6B"/>
                </a:solidFill>
                <a:latin typeface="Calibri"/>
              </a:defRPr>
            </a:pPr>
            <a:r>
              <a:t>Crea campaña, selecciona</a:t>
            </a:r>
            <a:br/>
            <a:r>
              <a:t>instrumento + módulos</a:t>
            </a:r>
          </a:p>
        </p:txBody>
      </p:sp>
      <p:sp>
        <p:nvSpPr>
          <p:cNvPr id="10" name="Oval 9"/>
          <p:cNvSpPr/>
          <p:nvPr/>
        </p:nvSpPr>
        <p:spPr>
          <a:xfrm>
            <a:off x="2468880" y="1554480"/>
            <a:ext cx="548640" cy="548640"/>
          </a:xfrm>
          <a:prstGeom prst="ellipse">
            <a:avLst/>
          </a:prstGeom>
          <a:solidFill>
            <a:srgbClr val="28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6002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5E5E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22860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51414"/>
                </a:solidFill>
                <a:latin typeface="Calibri"/>
              </a:defRPr>
            </a:pPr>
            <a:r>
              <a:t>Personaliza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65176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B6B"/>
                </a:solidFill>
                <a:latin typeface="Calibri"/>
              </a:defRPr>
            </a:pPr>
            <a:r>
              <a:t>Aplica marca: logo,</a:t>
            </a:r>
            <a:br/>
            <a:r>
              <a:t>colores, textos</a:t>
            </a:r>
          </a:p>
        </p:txBody>
      </p:sp>
      <p:sp>
        <p:nvSpPr>
          <p:cNvPr id="14" name="Oval 13"/>
          <p:cNvSpPr/>
          <p:nvPr/>
        </p:nvSpPr>
        <p:spPr>
          <a:xfrm>
            <a:off x="4160520" y="1554480"/>
            <a:ext cx="548640" cy="548640"/>
          </a:xfrm>
          <a:prstGeom prst="ellipse">
            <a:avLst/>
          </a:prstGeom>
          <a:solidFill>
            <a:srgbClr val="28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6002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5E5E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2860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51414"/>
                </a:solidFill>
                <a:latin typeface="Calibri"/>
              </a:defRPr>
            </a:pPr>
            <a:r>
              <a:t>Invita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5176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B6B"/>
                </a:solidFill>
                <a:latin typeface="Calibri"/>
              </a:defRPr>
            </a:pPr>
            <a:r>
              <a:t>Emails de invitación con</a:t>
            </a:r>
            <a:br/>
            <a:r>
              <a:t>enlace único por participante</a:t>
            </a:r>
          </a:p>
        </p:txBody>
      </p:sp>
      <p:sp>
        <p:nvSpPr>
          <p:cNvPr id="18" name="Oval 17"/>
          <p:cNvSpPr/>
          <p:nvPr/>
        </p:nvSpPr>
        <p:spPr>
          <a:xfrm>
            <a:off x="5852160" y="1554480"/>
            <a:ext cx="548640" cy="548640"/>
          </a:xfrm>
          <a:prstGeom prst="ellipse">
            <a:avLst/>
          </a:prstGeom>
          <a:solidFill>
            <a:srgbClr val="28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6002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5E5E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22860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51414"/>
                </a:solidFill>
                <a:latin typeface="Calibri"/>
              </a:defRPr>
            </a:pPr>
            <a:r>
              <a:t>Mide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265176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B6B"/>
                </a:solidFill>
                <a:latin typeface="Calibri"/>
              </a:defRPr>
            </a:pPr>
            <a:r>
              <a:t>Encuesta anónima (~10 min)</a:t>
            </a:r>
            <a:br/>
            <a:r>
              <a:t>con respaldo automático</a:t>
            </a:r>
          </a:p>
        </p:txBody>
      </p:sp>
      <p:sp>
        <p:nvSpPr>
          <p:cNvPr id="22" name="Oval 21"/>
          <p:cNvSpPr/>
          <p:nvPr/>
        </p:nvSpPr>
        <p:spPr>
          <a:xfrm>
            <a:off x="7543800" y="1554480"/>
            <a:ext cx="548640" cy="548640"/>
          </a:xfrm>
          <a:prstGeom prst="ellipse">
            <a:avLst/>
          </a:prstGeom>
          <a:solidFill>
            <a:srgbClr val="28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16002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5E5E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22860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51414"/>
                </a:solidFill>
                <a:latin typeface="Calibri"/>
              </a:defRPr>
            </a:pPr>
            <a:r>
              <a:t>Recuerda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265176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B6B"/>
                </a:solidFill>
                <a:latin typeface="Calibri"/>
              </a:defRPr>
            </a:pPr>
            <a:r>
              <a:t>Recordatorios a quienes</a:t>
            </a:r>
            <a:br/>
            <a:r>
              <a:t>no han completado</a:t>
            </a:r>
          </a:p>
        </p:txBody>
      </p:sp>
      <p:sp>
        <p:nvSpPr>
          <p:cNvPr id="26" name="Oval 25"/>
          <p:cNvSpPr/>
          <p:nvPr/>
        </p:nvSpPr>
        <p:spPr>
          <a:xfrm>
            <a:off x="9235440" y="1554480"/>
            <a:ext cx="548640" cy="548640"/>
          </a:xfrm>
          <a:prstGeom prst="ellipse">
            <a:avLst/>
          </a:prstGeom>
          <a:solidFill>
            <a:srgbClr val="28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16002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5E5E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22860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51414"/>
                </a:solidFill>
                <a:latin typeface="Calibri"/>
              </a:defRPr>
            </a:pPr>
            <a:r>
              <a:t>Analiza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265176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B6B"/>
                </a:solidFill>
                <a:latin typeface="Calibri"/>
              </a:defRPr>
            </a:pPr>
            <a:r>
              <a:t>Cálculo: estadísticas +</a:t>
            </a:r>
            <a:br/>
            <a:r>
              <a:t>ONA + alertas + IA</a:t>
            </a:r>
          </a:p>
        </p:txBody>
      </p:sp>
      <p:sp>
        <p:nvSpPr>
          <p:cNvPr id="30" name="Oval 29"/>
          <p:cNvSpPr/>
          <p:nvPr/>
        </p:nvSpPr>
        <p:spPr>
          <a:xfrm>
            <a:off x="10927080" y="1554480"/>
            <a:ext cx="548640" cy="548640"/>
          </a:xfrm>
          <a:prstGeom prst="ellipse">
            <a:avLst/>
          </a:prstGeom>
          <a:solidFill>
            <a:srgbClr val="1FA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22860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51414"/>
                </a:solidFill>
                <a:latin typeface="Calibri"/>
              </a:defRPr>
            </a:pPr>
            <a:r>
              <a:t>Actúa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265176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B6B"/>
                </a:solidFill>
                <a:latin typeface="Calibri"/>
              </a:defRPr>
            </a:pPr>
            <a:r>
              <a:t>11 módulos de resultados +</a:t>
            </a:r>
            <a:br/>
            <a:r>
              <a:t>reporte DOCX editable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114800"/>
            <a:ext cx="10698480" cy="228600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4297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51414"/>
                </a:solidFill>
                <a:latin typeface="Calibri"/>
              </a:defRPr>
            </a:pPr>
            <a:r>
              <a:t>Resultados que puedes esperar: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475488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51414"/>
                </a:solidFill>
                <a:latin typeface="Calibri"/>
              </a:defRPr>
              <a:buFont typeface="Arial"/>
              <a:buChar char="●"/>
            </a:pPr>
            <a:r>
              <a:t>Diagnóstico claro con indicadores de rigor científico</a:t>
            </a:r>
          </a:p>
          <a:p>
            <a:pPr>
              <a:spcAft>
                <a:spcPts val="400"/>
              </a:spcAft>
              <a:defRPr sz="1300">
                <a:solidFill>
                  <a:srgbClr val="151414"/>
                </a:solidFill>
                <a:latin typeface="Calibri"/>
              </a:defRPr>
              <a:buFont typeface="Arial"/>
              <a:buChar char="●"/>
            </a:pPr>
            <a:r>
              <a:t>Identificación de perfiles de compromiso en tu organización</a:t>
            </a:r>
          </a:p>
          <a:p>
            <a:pPr>
              <a:spcAft>
                <a:spcPts val="400"/>
              </a:spcAft>
              <a:defRPr sz="1300">
                <a:solidFill>
                  <a:srgbClr val="151414"/>
                </a:solidFill>
                <a:latin typeface="Calibri"/>
              </a:defRPr>
              <a:buFont typeface="Arial"/>
              <a:buChar char="●"/>
            </a:pPr>
            <a:r>
              <a:t>Comparativas por área, antigüedad y segmentos</a:t>
            </a:r>
          </a:p>
          <a:p>
            <a:pPr>
              <a:spcAft>
                <a:spcPts val="400"/>
              </a:spcAft>
              <a:defRPr sz="1300">
                <a:solidFill>
                  <a:srgbClr val="151414"/>
                </a:solidFill>
                <a:latin typeface="Calibri"/>
              </a:defRPr>
              <a:buFont typeface="Arial"/>
              <a:buChar char="●"/>
            </a:pPr>
            <a:r>
              <a:t>Recomendaciones accionables para mejorar el clima</a:t>
            </a:r>
          </a:p>
          <a:p>
            <a:pPr>
              <a:spcAft>
                <a:spcPts val="400"/>
              </a:spcAft>
              <a:defRPr sz="1300">
                <a:solidFill>
                  <a:srgbClr val="151414"/>
                </a:solidFill>
                <a:latin typeface="Calibri"/>
              </a:defRPr>
              <a:buFont typeface="Arial"/>
              <a:buChar char="●"/>
            </a:pPr>
            <a:r>
              <a:t>Mapa de percepción organizacional (ONA)</a:t>
            </a:r>
          </a:p>
          <a:p>
            <a:pPr>
              <a:spcAft>
                <a:spcPts val="400"/>
              </a:spcAft>
              <a:defRPr sz="1300">
                <a:solidFill>
                  <a:srgbClr val="151414"/>
                </a:solidFill>
                <a:latin typeface="Calibri"/>
              </a:defRPr>
              <a:buFont typeface="Arial"/>
              <a:buChar char="●"/>
            </a:pPr>
            <a:r>
              <a:t>Narrativas IA que traducen datos en historias claras</a:t>
            </a:r>
          </a:p>
          <a:p>
            <a:pPr>
              <a:spcAft>
                <a:spcPts val="400"/>
              </a:spcAft>
              <a:defRPr sz="1300">
                <a:solidFill>
                  <a:srgbClr val="151414"/>
                </a:solidFill>
                <a:latin typeface="Calibri"/>
              </a:defRPr>
              <a:buFont typeface="Arial"/>
              <a:buChar char="●"/>
            </a:pPr>
            <a:r>
              <a:t>Reporte ejecutivo editable listo para presentar a la directiva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94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E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ClimaLab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Mide lo que importa</a:t>
            </a:r>
            <a:br/>
            <a:r>
              <a:t>en tu organización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0F0D8"/>
                </a:solidFill>
                <a:latin typeface="Calibri"/>
              </a:defRPr>
            </a:pPr>
            <a:r>
              <a:t>22 dimensiones · 11 módulos de resultados · IA integrada</a:t>
            </a:r>
            <a:br/>
            <a:r>
              <a:t>ONA perceptual · Marca blanca · Exportación editable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69280"/>
            <a:ext cx="12188952" cy="1188720"/>
          </a:xfrm>
          <a:prstGeom prst="rect">
            <a:avLst/>
          </a:prstGeom>
          <a:solidFill>
            <a:srgbClr val="1E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806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climalab.vercel.app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D8B0"/>
                </a:solidFill>
                <a:latin typeface="Calibri"/>
              </a:defRPr>
            </a:pPr>
            <a:r>
              <a:t>Un producto de Rizo.ma Consulting  ·  Panamá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