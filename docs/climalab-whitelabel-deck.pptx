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Shape 1"/>
          <p:cNvSpPr/>
          <p:nvPr/>
        </p:nvSpPr>
        <p:spPr>
          <a:xfrm>
            <a:off x="10634472" y="274320"/>
            <a:ext cx="1097280" cy="457200"/>
          </a:xfrm>
          <a:prstGeom prst="rect">
            <a:avLst/>
          </a:prstGeom>
          <a:noFill/>
          <a:ln w="12700">
            <a:solidFill>
              <a:srgbClr val="02C39A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0634472" y="2743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[LOGO]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INTELIGENCIA ORGANIZACIONAL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96012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Las organizaciones que crecen de manera sostenible toman decisiones sobre su gente con el mismo rigor con que toman decisiones financieras.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4754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¿Tu organización ya lo hace?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nuevo estándar de las organizaciones de alto desempeño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645920"/>
            <a:ext cx="3200400" cy="384048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965960" y="201168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1965960" y="20116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05840" y="31089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Datos en tiempo real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3657600"/>
            <a:ext cx="2651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sobre personas respaldadas por evidencia actualizada, no por encuestas anuales que llegan tarde.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89120" y="1645920"/>
            <a:ext cx="3200400" cy="384048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623560" y="201168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5623560" y="20116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👥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63440" y="31089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Comprensión profunda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63440" y="3657600"/>
            <a:ext cx="2651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promedios: entender qué dimensiones impulsan el compromiso y dónde están los focos de riesgo.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46720" y="1645920"/>
            <a:ext cx="3200400" cy="384048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81160" y="201168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9281160" y="20116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21040" y="31089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Acción informada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21040" y="3657600"/>
            <a:ext cx="2651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 hallazgos en intervenciones concretas con criterio metodológico, no intuición.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mayoría de las organizaciones opera con una brecha de información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463040"/>
            <a:ext cx="54864" cy="4572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173736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que típicamente existe hoy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2377440"/>
            <a:ext cx="42976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 anual de clima con metodología genérica</a:t>
            </a:r>
            <a:endParaRPr lang="en-US" sz="13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que llegan 6-8 semanas después del cierre</a:t>
            </a:r>
            <a:endParaRPr lang="en-US" sz="13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PDF estático sin capacidad de exploración</a:t>
            </a:r>
            <a:endParaRPr lang="en-US" sz="13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forma de vincular clima con métricas de negocio</a:t>
            </a:r>
            <a:endParaRPr lang="en-US" sz="13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basadas en percepción, no en patrones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0" y="1463040"/>
            <a:ext cx="5029200" cy="4572000"/>
          </a:xfrm>
          <a:prstGeom prst="rect">
            <a:avLst/>
          </a:prstGeom>
          <a:solidFill>
            <a:srgbClr val="028090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766560" y="173736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que es posible con el instrumento correcto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766560" y="2377440"/>
            <a:ext cx="42976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60000"/>
              </a:lnSpc>
              <a:buSzPct val="100000"/>
              <a:buChar char="✓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dimensiones validadas estadísticamente</a:t>
            </a:r>
            <a:endParaRPr lang="en-US" sz="1300" dirty="0"/>
          </a:p>
          <a:p>
            <a:pPr marL="342900" indent="-342900">
              <a:lnSpc>
                <a:spcPct val="160000"/>
              </a:lnSpc>
              <a:buSzPct val="100000"/>
              <a:buChar char="✓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disponibles en tiempo real</a:t>
            </a:r>
            <a:endParaRPr lang="en-US" sz="1300" dirty="0"/>
          </a:p>
          <a:p>
            <a:pPr marL="342900" indent="-342900">
              <a:lnSpc>
                <a:spcPct val="160000"/>
              </a:lnSpc>
              <a:buSzPct val="100000"/>
              <a:buChar char="✓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interactivo con segmentación dinámica</a:t>
            </a:r>
            <a:endParaRPr lang="en-US" sz="1300" dirty="0"/>
          </a:p>
          <a:p>
            <a:pPr marL="342900" indent="-342900">
              <a:lnSpc>
                <a:spcPct val="160000"/>
              </a:lnSpc>
              <a:buSzPct val="100000"/>
              <a:buChar char="✓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redes que revela dinámicas invisibles</a:t>
            </a:r>
            <a:endParaRPr lang="en-US" sz="1300" dirty="0"/>
          </a:p>
          <a:p>
            <a:pPr marL="342900" indent="-342900">
              <a:lnSpc>
                <a:spcPct val="160000"/>
              </a:lnSpc>
              <a:buSzPct val="100000"/>
              <a:buChar char="✓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que genera narrativas e identifica drivers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 plataforma diseñada para decisiones, no para reportes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capacidades que trabajan juntas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645920" y="20574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Instrumento robusto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269748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 ítems en 22 dimensiones. Confiabilidad estadística verificada por dimensión. Módulos opcionales para contextos específicos.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182880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🔗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223760" y="20574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Análisis de redes organizacionales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0" y="269748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cómo se distribuye la percepción entre grupos. Identifica comunidades de afinidad, puentes críticos y focos de fragmentación.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4617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🤖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645920" y="46177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Insights generados por IA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05840" y="525780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tipos de análisis cualitativos automáticos: narrativas, drivers, alertas, perfiles de segmento, tendencias y análisis de comentarios.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438912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4617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223760" y="46177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Exportación ejecutiva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583680" y="525780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DOCX con identidad visual de tu organización, Excel completo para análisis propio, y reporte de IA listo para presentar a directivos.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 lanzamiento a los resultados en días, no semanas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34440" y="18288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1234440" y="1828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Configuración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1920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la organización, define departamentos e identidad visual. 30 minutos.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487168" y="1965960"/>
            <a:ext cx="274320" cy="274320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8" name="Shape 6"/>
          <p:cNvSpPr/>
          <p:nvPr/>
        </p:nvSpPr>
        <p:spPr>
          <a:xfrm>
            <a:off x="3474720" y="18288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3474720" y="1828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788920" y="25603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Campaña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88920" y="3108960"/>
            <a:ext cx="1920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Selecciona instrumento y módulos. Agrega participantes por email o enlace anónimo.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27448" y="1965960"/>
            <a:ext cx="274320" cy="274320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13" name="Shape 11"/>
          <p:cNvSpPr/>
          <p:nvPr/>
        </p:nvSpPr>
        <p:spPr>
          <a:xfrm>
            <a:off x="5715000" y="18288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5715000" y="1828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029200" y="25603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Aplicación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0" y="3108960"/>
            <a:ext cx="1920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encuesta corre en el navegador. Monitor en vivo cada 30 segundos.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67728" y="1965960"/>
            <a:ext cx="274320" cy="274320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18" name="Shape 16"/>
          <p:cNvSpPr/>
          <p:nvPr/>
        </p:nvSpPr>
        <p:spPr>
          <a:xfrm>
            <a:off x="7955280" y="18288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7955280" y="1828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269480" y="25603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Cálculo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269480" y="3108960"/>
            <a:ext cx="1920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estadístico procesa resultados al cerrar. ONA e insights de IA generados automáticamente.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208008" y="1965960"/>
            <a:ext cx="274320" cy="274320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23" name="Shape 21"/>
          <p:cNvSpPr/>
          <p:nvPr/>
        </p:nvSpPr>
        <p:spPr>
          <a:xfrm>
            <a:off x="10195560" y="18288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4" name="Text 22"/>
          <p:cNvSpPr/>
          <p:nvPr/>
        </p:nvSpPr>
        <p:spPr>
          <a:xfrm>
            <a:off x="10195560" y="1828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09760" y="25603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Decisión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509760" y="3108960"/>
            <a:ext cx="1920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vistas de resultados. Exporta DOCX ejecutivo o Excel completo para la reunión de directivos.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ilustrativo basado en aplicación real. Datos de referencia.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486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que reveló el análisis en una organización de servicios financieros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32004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27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4592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350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31520" y="23317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colaboradores medidos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89120" y="1554480"/>
            <a:ext cx="32004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27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89120" y="164592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4389120" y="23317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dimensiones analizadas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0" y="1554480"/>
            <a:ext cx="32004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27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0" y="164592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8046720" y="23317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 de percepción identificados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3200400"/>
            <a:ext cx="105156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3200400"/>
            <a:ext cx="54864" cy="14630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3337560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que el promedio ocultaba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3703320"/>
            <a:ext cx="9784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índice global de clima era 3.8/5 — aparentemente aceptable. El análisis de redes reveló que dos departamentos operaban con percepciones radicalmente distintas al resto, con NMI de estabilidad de 0.87. La intervención se focalizó ahí.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4937760"/>
            <a:ext cx="105156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31520" y="4937760"/>
            <a:ext cx="54864" cy="14630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9" name="Text 17"/>
          <p:cNvSpPr/>
          <p:nvPr/>
        </p:nvSpPr>
        <p:spPr>
          <a:xfrm>
            <a:off x="1097280" y="5074920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driver que nadie había identificado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97280" y="5440680"/>
            <a:ext cx="9784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dimensión de Autonomía (AUT) tenía la correlación más alta con Engagement (r=0.71, p&lt;0.01). No era liderazgo ni compensación — era la capacidad de tomar decisiones propias. Cambió el foco del plan de acción.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Dos formas de trabajar según el nivel de acompañamiento que necesitas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463040"/>
            <a:ext cx="5029200" cy="4206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463040"/>
            <a:ext cx="50292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737360"/>
            <a:ext cx="1645920" cy="320040"/>
          </a:xfrm>
          <a:prstGeom prst="roundRect">
            <a:avLst>
              <a:gd name="adj" fmla="val 14286"/>
            </a:avLst>
          </a:prstGeom>
          <a:solidFill>
            <a:srgbClr val="F0FAFA"/>
          </a:solidFill>
          <a:ln w="12700">
            <a:solidFill>
              <a:srgbClr val="02809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05840" y="224028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Diagnóstico autogestionado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265176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completo a la plataforma. Tu equipo configura, lanza y analiza. Ideal para organizaciones con capacidad interna de RRHH o People Analytics.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3566160"/>
            <a:ext cx="4480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Instrumento Core (107 ítems) o Pulso (22 ítems)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completo con 11 vistas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Exportación DOCX y Excel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de IA automáticos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0" y="1463040"/>
            <a:ext cx="5029200" cy="4206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0" y="1463040"/>
            <a:ext cx="5029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1737360"/>
            <a:ext cx="2560320" cy="320040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CONSULTORÍA + PLATAFORMA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675120" y="224028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Diagnóstico con interpretación estratégica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75120" y="265176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más sesiones de análisis, presentación ejecutiva y plan de acción. Para organizaciones que quieren convertir los datos en decisiones de forma inmediata.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3566160"/>
            <a:ext cx="4480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de Plataforma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de análisis de resultados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al comité directivo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Identificación de quick wins y plan de 90 días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6126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[NOMBRE DE TU EMPRESA] puede orientarte sobre la modalidad más adecuada para el tamaño y madurez de tu organización.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Shape 1"/>
          <p:cNvSpPr/>
          <p:nvPr/>
        </p:nvSpPr>
        <p:spPr>
          <a:xfrm>
            <a:off x="10634472" y="274320"/>
            <a:ext cx="1097280" cy="457200"/>
          </a:xfrm>
          <a:prstGeom prst="rect">
            <a:avLst/>
          </a:prstGeom>
          <a:noFill/>
          <a:ln w="12700">
            <a:solidFill>
              <a:srgbClr val="02C39A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0634472" y="2743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[LOGO]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siguiente paso es simple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demo de 30 minutos es suficiente para ver el sistema con datos reales.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88720" y="29260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compromiso de contratación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342900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4290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datos reales de una organización similar a la tuya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393192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88720" y="39319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tiempo para preguntas específicas a tu contexto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57600" y="4572000"/>
            <a:ext cx="4572000" cy="640080"/>
          </a:xfrm>
          <a:prstGeom prst="roundRect">
            <a:avLst>
              <a:gd name="adj" fmla="val 14286"/>
            </a:avLst>
          </a:prstGeom>
          <a:solidFill>
            <a:srgbClr val="02C3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Agendemos la demo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200400" y="539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[email@tuempresa.com]  ·  [+000 0000-0000]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2026-03-08T20:07:00Z</dcterms:created>
  <dcterms:modified xsi:type="dcterms:W3CDTF">2026-03-08T20:07:00Z</dcterms:modified>
</cp:coreProperties>
</file>